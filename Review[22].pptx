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1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6" r:id="rId2"/>
    <p:sldId id="259" r:id="rId3"/>
    <p:sldId id="333" r:id="rId4"/>
    <p:sldId id="338" r:id="rId5"/>
    <p:sldId id="349" r:id="rId6"/>
    <p:sldId id="350" r:id="rId7"/>
    <p:sldId id="339" r:id="rId8"/>
    <p:sldId id="335" r:id="rId9"/>
    <p:sldId id="344" r:id="rId10"/>
    <p:sldId id="340" r:id="rId11"/>
    <p:sldId id="341" r:id="rId12"/>
    <p:sldId id="342" r:id="rId13"/>
    <p:sldId id="345" r:id="rId14"/>
    <p:sldId id="347" r:id="rId15"/>
    <p:sldId id="348" r:id="rId16"/>
    <p:sldId id="343" r:id="rId17"/>
    <p:sldId id="267" r:id="rId18"/>
    <p:sldId id="334" r:id="rId19"/>
    <p:sldId id="331" r:id="rId20"/>
    <p:sldId id="337" r:id="rId21"/>
    <p:sldId id="31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3" clrIdx="0">
    <p:extLst>
      <p:ext uri="{19B8F6BF-5375-455C-9EA6-DF929625EA0E}">
        <p15:presenceInfo xmlns:p15="http://schemas.microsoft.com/office/powerpoint/2012/main" userId="797a50ec13d602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4353" autoAdjust="0"/>
  </p:normalViewPr>
  <p:slideViewPr>
    <p:cSldViewPr snapToGrid="0">
      <p:cViewPr varScale="1">
        <p:scale>
          <a:sx n="69" d="100"/>
          <a:sy n="69" d="100"/>
        </p:scale>
        <p:origin x="114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035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04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59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19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78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863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5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511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5E72C73-2D91-4E12-BA25-F0AA0C03599B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066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36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22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3/6/2025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47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61AE46-352C-44A5-A57B-39BBDAB4C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5359" y="630195"/>
            <a:ext cx="8387758" cy="371723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	                                                                                         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 REVIEW -1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1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 BASED WATER QUALITY PREDICTION FOR Aquaculture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/>
              <a:t>                   </a:t>
            </a:r>
            <a:br>
              <a:rPr lang="en-IN" b="1" dirty="0"/>
            </a:br>
            <a:r>
              <a:rPr lang="en-IN" sz="3100" b="1" dirty="0"/>
              <a:t>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                             Presented by</a:t>
            </a:r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rajkumar.r                        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G.srinivasulu(27016) 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M.praveenreddy(27150)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Y.ganesh(27151)                                      </a:t>
            </a:r>
            <a:endParaRPr lang="en-IN" sz="2000" dirty="0"/>
          </a:p>
        </p:txBody>
      </p:sp>
      <p:pic>
        <p:nvPicPr>
          <p:cNvPr id="1026" name="Picture 2" descr="Image result for veltech logo">
            <a:extLst>
              <a:ext uri="{FF2B5EF4-FFF2-40B4-BE49-F238E27FC236}">
                <a16:creationId xmlns:a16="http://schemas.microsoft.com/office/drawing/2014/main" xmlns="" id="{E7A4B444-1557-4FBA-844C-92DF30913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5" y="630195"/>
            <a:ext cx="1989437" cy="1729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563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B5ACEB-4603-4464-BD98-AE4D68640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946C6C-ACA4-4654-BB6E-01BD536F3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455" y="1745833"/>
            <a:ext cx="11602993" cy="4114799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effectLst/>
                <a:latin typeface="Times" panose="02020603050405020304" pitchFamily="18" charset="0"/>
                <a:ea typeface="Calibri" panose="020F0502020204030204" pitchFamily="34" charset="0"/>
                <a:cs typeface="Times" panose="02020603050405020304" pitchFamily="18" charset="0"/>
              </a:rPr>
              <a:t>This project proposes a machine learning approach for early detection of fish diseases by analyzing water quality. Utilizing a Gradient Boosting algorithm trained on water quality data, the aim is to predict fish health by assessing toxins and viruses in water samples. This proactive method allows for real-time monitoring and management of fish health, helping to prevent disease outbreaks and maintain healthy fish populations in aquaculture </a:t>
            </a:r>
            <a:r>
              <a:rPr lang="en-US" sz="2400" dirty="0">
                <a:latin typeface="Times" panose="02020603050405020304" pitchFamily="18" charset="0"/>
                <a:cs typeface="Times" panose="02020603050405020304" pitchFamily="18" charset="0"/>
              </a:rPr>
              <a:t>on</a:t>
            </a:r>
            <a:r>
              <a:rPr lang="en-GB" sz="2400" dirty="0">
                <a:latin typeface="Times" panose="02020603050405020304" pitchFamily="18" charset="0"/>
                <a:cs typeface="Times" panose="02020603050405020304" pitchFamily="18" charset="0"/>
              </a:rPr>
              <a:t> Aquaculture plays a significant role in global food production, but fish diseases pose a major threat to the industry, leading to substantial economic losses and jeopardizing food security. This project proposes a machine learning-based approach for the early detection of fish diseases by analyzing water quality parameters.</a:t>
            </a:r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209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920577-D982-48EB-B963-6DFFBC459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OBJECTIVE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7B8D78-DAA1-4940-8E07-D59E0F60B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84" y="1963225"/>
            <a:ext cx="11242631" cy="304102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condition of the aquatic animals using water quality parameters by applying machine learning algorithms.</a:t>
            </a:r>
          </a:p>
          <a:p>
            <a:pPr algn="just">
              <a:lnSpc>
                <a:spcPct val="100000"/>
              </a:lnSpc>
            </a:pPr>
            <a:r>
              <a:rPr lang="en-US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test the</a:t>
            </a:r>
            <a:r>
              <a:rPr lang="en-US" altLang="en-US" sz="2400" baseline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water quality parameters; prepare the data set ; predict the values using ML algorithm</a:t>
            </a:r>
            <a:r>
              <a:rPr lang="en-US" altLang="en-US" sz="2400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6412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67062"/>
            <a:ext cx="10972800" cy="464950"/>
          </a:xfrm>
        </p:spPr>
        <p:txBody>
          <a:bodyPr>
            <a:normAutofit fontScale="90000"/>
          </a:bodyPr>
          <a:lstStyle/>
          <a:p>
            <a:r>
              <a:rPr lang="en-I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814891"/>
            <a:ext cx="10972800" cy="4525963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of a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healthy aquatic environment and production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ponds are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factors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primary importance for successful aquaculture culture operation.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nutrient status of water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the most important role in governing the production.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bottom soil governs the storage and release of nutrients to the overlying water through various chemical and biochemical processes for biological production in the environment.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the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condition and chemical composition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water quality are parameters to be taken care.</a:t>
            </a:r>
          </a:p>
          <a:p>
            <a:pPr algn="just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directly influence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survival and growth of fish, and hence, necessitate careful management</a:t>
            </a:r>
            <a:r>
              <a:rPr lang="en-US" sz="2400" dirty="0"/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849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6888" y="194127"/>
            <a:ext cx="9521222" cy="540955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LITERATURE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lang="en-US" dirty="0"/>
          </a:p>
        </p:txBody>
      </p:sp>
      <p:graphicFrame>
        <p:nvGraphicFramePr>
          <p:cNvPr id="14" name="Content Placeholder 1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5865939"/>
              </p:ext>
            </p:extLst>
          </p:nvPr>
        </p:nvGraphicFramePr>
        <p:xfrm>
          <a:off x="304799" y="901337"/>
          <a:ext cx="11734798" cy="59177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8489"/>
                <a:gridCol w="3142727"/>
                <a:gridCol w="2562410"/>
                <a:gridCol w="2900612"/>
                <a:gridCol w="2230560"/>
              </a:tblGrid>
              <a:tr h="675221">
                <a:tc>
                  <a:txBody>
                    <a:bodyPr/>
                    <a:lstStyle/>
                    <a:p>
                      <a:r>
                        <a:rPr lang="en-GB" dirty="0" smtClean="0"/>
                        <a:t>S</a:t>
                      </a:r>
                      <a:r>
                        <a:rPr lang="en-GB" smtClean="0"/>
                        <a:t>.</a:t>
                      </a:r>
                      <a:endParaRPr lang="en-GB" dirty="0" smtClean="0"/>
                    </a:p>
                    <a:p>
                      <a:r>
                        <a:rPr lang="en-GB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TITLE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PUBLISHED DETAILS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DESCRIPTION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INFERENCE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027761"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1.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Personalized Diet Recommendation</a:t>
                      </a:r>
                    </a:p>
                    <a:p>
                      <a:pPr algn="l"/>
                      <a:r>
                        <a:rPr lang="en-US" sz="1400" dirty="0" smtClean="0"/>
                        <a:t> System Using Machine Learning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Author: </a:t>
                      </a:r>
                      <a:r>
                        <a:rPr lang="fi-FI" sz="1400" dirty="0" smtClean="0"/>
                        <a:t>D. Navya Narayana Kumari, T. Praveen Satya</a:t>
                      </a:r>
                      <a:endParaRPr lang="en-IN" sz="1400" kern="1200" dirty="0" smtClean="0">
                        <a:effectLst/>
                      </a:endParaRPr>
                    </a:p>
                    <a:p>
                      <a:r>
                        <a:rPr lang="en-IN" sz="1400" kern="1200" dirty="0" smtClean="0">
                          <a:effectLst/>
                        </a:rPr>
                        <a:t>Published in: </a:t>
                      </a:r>
                      <a:r>
                        <a:rPr lang="en-IN" sz="1400" dirty="0" smtClean="0"/>
                        <a:t>IJERT</a:t>
                      </a:r>
                      <a:r>
                        <a:rPr lang="en-IN" sz="1400" kern="1200" dirty="0" smtClean="0">
                          <a:effectLst/>
                        </a:rPr>
                        <a:t>, 2024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kern="1200" dirty="0" smtClean="0">
                          <a:effectLst/>
                        </a:rPr>
                        <a:t>Methodology: Used </a:t>
                      </a:r>
                      <a:r>
                        <a:rPr lang="en-US" sz="1400" dirty="0" smtClean="0"/>
                        <a:t>Nearest Neighbor model with cosine similarity.</a:t>
                      </a:r>
                      <a:endParaRPr lang="en-IN" sz="1400" kern="1200" dirty="0" smtClean="0">
                        <a:effectLst/>
                      </a:endParaRPr>
                    </a:p>
                    <a:p>
                      <a:pPr algn="just"/>
                      <a:r>
                        <a:rPr lang="en-IN" sz="1400" kern="1200" dirty="0" smtClean="0">
                          <a:effectLst/>
                        </a:rPr>
                        <a:t>Materials: </a:t>
                      </a:r>
                      <a:r>
                        <a:rPr lang="en-IN" sz="1400" dirty="0" smtClean="0"/>
                        <a:t>Streamlit for UI, FastAPI for backend.</a:t>
                      </a:r>
                    </a:p>
                    <a:p>
                      <a:pPr algn="just"/>
                      <a:r>
                        <a:rPr lang="en-IN" sz="1400" kern="1200" dirty="0" smtClean="0">
                          <a:effectLst/>
                        </a:rPr>
                        <a:t>Limitations: </a:t>
                      </a:r>
                      <a:r>
                        <a:rPr lang="en-US" sz="1400" dirty="0" smtClean="0"/>
                        <a:t>Does not factor in disease levels like diabetes or real-time medical conditions</a:t>
                      </a:r>
                      <a:r>
                        <a:rPr lang="en-IN" sz="1400" kern="1200" dirty="0" smtClean="0">
                          <a:effectLst/>
                        </a:rPr>
                        <a:t>.</a:t>
                      </a:r>
                      <a:endParaRPr lang="en-IN" sz="140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The system successfully delivers personalized diet plans and nutritional recommendations to users, aiding in health management and weight control</a:t>
                      </a:r>
                      <a:endParaRPr lang="en-US" sz="1400" dirty="0"/>
                    </a:p>
                  </a:txBody>
                  <a:tcPr/>
                </a:tc>
              </a:tr>
              <a:tr h="15506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/>
                        <a:t>2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effectLst/>
                        </a:rPr>
                        <a:t>Machine Learning in </a:t>
                      </a:r>
                      <a:r>
                        <a:rPr lang="en-IN" sz="1400" dirty="0" smtClean="0"/>
                        <a:t>Nutrition Research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kern="1200" dirty="0" smtClean="0">
                          <a:effectLst/>
                        </a:rPr>
                        <a:t>Authors: </a:t>
                      </a:r>
                      <a:r>
                        <a:rPr lang="de-DE" sz="1400" dirty="0" smtClean="0"/>
                        <a:t>Daniel Kirk,Esther Kok, Michele Tufano</a:t>
                      </a:r>
                    </a:p>
                    <a:p>
                      <a:r>
                        <a:rPr lang="de-DE" sz="1400" kern="1200" dirty="0" smtClean="0">
                          <a:effectLst/>
                        </a:rPr>
                        <a:t>Published in:IJERT, 2024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kern="1200" dirty="0" smtClean="0">
                          <a:effectLst/>
                        </a:rPr>
                        <a:t>Methodology: Reviewed ML applications, applied ML on SPT data</a:t>
                      </a:r>
                    </a:p>
                    <a:p>
                      <a:pPr algn="just"/>
                      <a:r>
                        <a:rPr lang="en-IN" sz="1400" kern="1200" dirty="0" smtClean="0">
                          <a:effectLst/>
                        </a:rPr>
                        <a:t>Materials: Streamlit</a:t>
                      </a:r>
                    </a:p>
                    <a:p>
                      <a:pPr algn="just"/>
                      <a:r>
                        <a:rPr lang="en-IN" sz="1400" kern="1200" dirty="0" smtClean="0">
                          <a:effectLst/>
                        </a:rPr>
                        <a:t>Limitations: </a:t>
                      </a:r>
                      <a:r>
                        <a:rPr lang="en-US" sz="1400" kern="1200" dirty="0" smtClean="0">
                          <a:effectLst/>
                        </a:rPr>
                        <a:t>T</a:t>
                      </a:r>
                      <a:r>
                        <a:rPr lang="en-US" sz="1400" dirty="0" smtClean="0"/>
                        <a:t>he performance of these models in distinct populations and with different data generation techniques is not guaranteed.</a:t>
                      </a:r>
                      <a:endParaRPr lang="en-IN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effectLst/>
                        </a:rPr>
                        <a:t>ML methods can significantly reduce the time and cost associated with traditional material tests by providing accurate predictions of material properties</a:t>
                      </a:r>
                      <a:endParaRPr lang="en-US" sz="1400" dirty="0"/>
                    </a:p>
                  </a:txBody>
                  <a:tcPr/>
                </a:tc>
              </a:tr>
              <a:tr h="15506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/>
                        <a:t>3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Diet Recommendation System Using Machine Learning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effectLst/>
                        </a:rPr>
                        <a:t>Authors: </a:t>
                      </a:r>
                      <a:r>
                        <a:rPr lang="en-IN" sz="1400" dirty="0" smtClean="0"/>
                        <a:t>Yuvraj Chibber, Dushyant Betala, Srividhya S.</a:t>
                      </a:r>
                    </a:p>
                    <a:p>
                      <a:r>
                        <a:rPr lang="en-US" sz="1400" kern="1200" dirty="0" smtClean="0">
                          <a:effectLst/>
                        </a:rPr>
                        <a:t>Published in: </a:t>
                      </a:r>
                      <a:r>
                        <a:rPr lang="en-US" sz="1400" dirty="0" smtClean="0"/>
                        <a:t>International Conference on Recent Trends in Data Science and its Applications</a:t>
                      </a:r>
                      <a:r>
                        <a:rPr lang="en-US" sz="1400" kern="1200" dirty="0" smtClean="0">
                          <a:effectLst/>
                        </a:rPr>
                        <a:t>, 2022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400" kern="1200" dirty="0" smtClean="0">
                          <a:effectLst/>
                        </a:rPr>
                        <a:t>Methodology: </a:t>
                      </a:r>
                      <a:r>
                        <a:rPr lang="en-IN" sz="1400" dirty="0" smtClean="0"/>
                        <a:t>Machine</a:t>
                      </a:r>
                      <a:r>
                        <a:rPr lang="en-IN" sz="1400" baseline="0" dirty="0" smtClean="0"/>
                        <a:t> </a:t>
                      </a:r>
                      <a:r>
                        <a:rPr lang="en-IN" sz="1400" dirty="0" smtClean="0"/>
                        <a:t>Learning algorithms, K-Means Algorithm.</a:t>
                      </a:r>
                    </a:p>
                    <a:p>
                      <a:pPr algn="just"/>
                      <a:r>
                        <a:rPr lang="en-IN" sz="1400" kern="1200" dirty="0" smtClean="0">
                          <a:effectLst/>
                        </a:rPr>
                        <a:t>Materials: </a:t>
                      </a:r>
                      <a:r>
                        <a:rPr lang="en-IN" sz="1400" dirty="0" smtClean="0"/>
                        <a:t>90 food items,</a:t>
                      </a:r>
                      <a:r>
                        <a:rPr lang="pt-BR" sz="1400" dirty="0" smtClean="0"/>
                        <a:t> calories, fat, sugar, calcium, potassium.</a:t>
                      </a:r>
                    </a:p>
                    <a:p>
                      <a:pPr algn="just"/>
                      <a:r>
                        <a:rPr lang="en-IN" sz="1400" kern="1200" dirty="0" smtClean="0">
                          <a:effectLst/>
                        </a:rPr>
                        <a:t>Limitations: Limited to 90 items</a:t>
                      </a:r>
                      <a:r>
                        <a:rPr lang="en-IN" sz="1400" dirty="0" smtClean="0"/>
                        <a:t>, specific deficiencies, only on dietary recommendations.</a:t>
                      </a:r>
                      <a:endParaRPr lang="en-IN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smtClean="0"/>
                        <a:t>The system effectively provides personalized diet plans based on user data, helping manage nutritional deficiencies and maintain a balanced diet</a:t>
                      </a:r>
                      <a:r>
                        <a:rPr lang="en-US" sz="1800" dirty="0" smtClean="0"/>
                        <a:t>.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649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980857"/>
              </p:ext>
            </p:extLst>
          </p:nvPr>
        </p:nvGraphicFramePr>
        <p:xfrm>
          <a:off x="0" y="387927"/>
          <a:ext cx="12191999" cy="647007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2789"/>
                <a:gridCol w="3073802"/>
                <a:gridCol w="2532844"/>
                <a:gridCol w="3265121"/>
                <a:gridCol w="2487443"/>
              </a:tblGrid>
              <a:tr h="1203108">
                <a:tc>
                  <a:txBody>
                    <a:bodyPr/>
                    <a:lstStyle/>
                    <a:p>
                      <a:r>
                        <a:rPr lang="en-GB" dirty="0" smtClean="0"/>
                        <a:t>S.</a:t>
                      </a:r>
                    </a:p>
                    <a:p>
                      <a:r>
                        <a:rPr lang="en-GB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TITLE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PUBLISHED DETAILS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DESCRIPTION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INFERENCE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839143"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4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A Novel Approach for Fish Disease Detection Using Water Quality Data and Machine Learning</a:t>
                      </a:r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Author: </a:t>
                      </a:r>
                      <a:r>
                        <a:rPr lang="en-IN" sz="1400" u="none" kern="1200" dirty="0" smtClean="0">
                          <a:effectLst/>
                        </a:rPr>
                        <a:t>Ilias papastratis, Dimitrios kosta</a:t>
                      </a:r>
                      <a:r>
                        <a:rPr lang="en-US" sz="1400" kern="1200" dirty="0" smtClean="0">
                          <a:effectLst/>
                        </a:rPr>
                        <a:t>nidis.</a:t>
                      </a:r>
                      <a:endParaRPr lang="en-IN" sz="1400" u="none" kern="1200" dirty="0" smtClean="0">
                        <a:effectLst/>
                      </a:endParaRPr>
                    </a:p>
                    <a:p>
                      <a:r>
                        <a:rPr lang="en-IN" sz="1400" kern="1200" dirty="0" smtClean="0">
                          <a:effectLst/>
                        </a:rPr>
                        <a:t>Published in: Scie</a:t>
                      </a:r>
                      <a:r>
                        <a:rPr lang="en-US" sz="1400" kern="1200" dirty="0" smtClean="0">
                          <a:effectLst/>
                        </a:rPr>
                        <a:t>ntific Report</a:t>
                      </a:r>
                      <a:r>
                        <a:rPr lang="en-IN" sz="1400" kern="1200" dirty="0" smtClean="0">
                          <a:effectLst/>
                        </a:rPr>
                        <a:t>, 2024.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Feature selection based on mutual information and random forest classifier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The paper only considers four water quality parameters and four fish diseases. The paper also does not validate the approach on different datasets or real-world scenarios</a:t>
                      </a:r>
                      <a:r>
                        <a:rPr lang="en-GB" dirty="0" smtClean="0"/>
                        <a:t>.</a:t>
                      </a:r>
                      <a:endParaRPr lang="en-US" dirty="0"/>
                    </a:p>
                  </a:txBody>
                  <a:tcPr/>
                </a:tc>
              </a:tr>
              <a:tr h="1763516">
                <a:tc>
                  <a:txBody>
                    <a:bodyPr/>
                    <a:lstStyle/>
                    <a:p>
                      <a:r>
                        <a:rPr lang="en-GB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Diseased Fish Detection in the Underwater Environment Using an Improved YOLOV5 Network for Intensive Aquaculture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kern="1200" dirty="0" smtClean="0">
                          <a:effectLst/>
                        </a:rPr>
                        <a:t>Authors: </a:t>
                      </a:r>
                      <a:r>
                        <a:rPr lang="en-IN" sz="1400" dirty="0" smtClean="0">
                          <a:effectLst/>
                        </a:rPr>
                        <a:t>Sara Sweidan </a:t>
                      </a:r>
                      <a:r>
                        <a:rPr lang="en-IN" sz="1400" kern="1200" dirty="0" smtClean="0">
                          <a:effectLst/>
                        </a:rPr>
                        <a:t>, </a:t>
                      </a:r>
                      <a:r>
                        <a:rPr lang="en-IN" sz="1400" dirty="0" smtClean="0">
                          <a:effectLst/>
                        </a:rPr>
                        <a:t>S.S. Askar </a:t>
                      </a:r>
                      <a:endParaRPr lang="en-IN" sz="1400" baseline="30000" dirty="0" smtClean="0">
                        <a:effectLst/>
                      </a:endParaRPr>
                    </a:p>
                    <a:p>
                      <a:r>
                        <a:rPr lang="de-DE" sz="1400" kern="1200" dirty="0" smtClean="0">
                          <a:effectLst/>
                        </a:rPr>
                        <a:t>Published in:</a:t>
                      </a:r>
                      <a:r>
                        <a:rPr lang="en-US" sz="1400" dirty="0" smtClean="0"/>
                        <a:t>Fishes.</a:t>
                      </a:r>
                      <a:r>
                        <a:rPr lang="en-US" sz="1400" kern="1200" dirty="0" smtClean="0">
                          <a:effectLst/>
                        </a:rPr>
                        <a:t>Direct</a:t>
                      </a:r>
                      <a:r>
                        <a:rPr lang="de-DE" sz="1400" kern="1200" dirty="0" smtClean="0">
                          <a:effectLst/>
                        </a:rPr>
                        <a:t>, 2024</a:t>
                      </a:r>
                      <a:endParaRPr lang="en-IN" sz="140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Improved YOLOV5 network with convolutional kernel group and convolutional block attention module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The paper only tests the model on a small dataset of 500 images of diseased fish. The paper also does not evaluate the model on different types of fish diseases or different water conditions.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664306">
                <a:tc>
                  <a:txBody>
                    <a:bodyPr/>
                    <a:lstStyle/>
                    <a:p>
                      <a:r>
                        <a:rPr lang="en-GB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Water Quality Prediction and Disease Diagnosis in Aquaculture Using Deep Neural Networks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kern="1200" dirty="0" smtClean="0">
                          <a:effectLst/>
                        </a:rPr>
                        <a:t>Authors:</a:t>
                      </a:r>
                      <a:r>
                        <a:rPr lang="en-US" sz="1400" dirty="0" smtClean="0"/>
                        <a:t>S. Sivakumar, R. Rajesh, and S. Sathish Kumar</a:t>
                      </a:r>
                    </a:p>
                    <a:p>
                      <a:r>
                        <a:rPr lang="en-IN" sz="1400" kern="1200" dirty="0" smtClean="0">
                          <a:effectLst/>
                        </a:rPr>
                        <a:t>Published in: </a:t>
                      </a:r>
                      <a:r>
                        <a:rPr lang="en-US" sz="1400" dirty="0" smtClean="0"/>
                        <a:t>Aquaculture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Feature selection based on mutual information and random forest classifier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The paper only considers four water quality parameters and four fish diseases. The paper also does not validate the approach on different datasets or real-world scenarios.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73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https://www.vipananlab.com/wp-content/uploads/2022/03/PURA-WATER-TEST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10" y="1334541"/>
            <a:ext cx="5123444" cy="482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quality parameters</a:t>
            </a:r>
            <a:endParaRPr lang="en-IN" sz="4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252034" y="1334541"/>
            <a:ext cx="5376672" cy="470115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Dissolved Oxygen (DO)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Critical for fish respiration and aquatic health.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Influences biological processes and the solubility of nutrients and gases.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Affects metabolism, growth rates, and oxygen solubility.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Ammonia (NH₃)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Toxic to aquatic organisms at elevated levels.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Nitrite (NO₂)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Highly toxic to fish, especially in low-oxygen environments.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385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20792D-ABD6-4F44-A813-454A3AC4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BLOCK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7BAFF3-BD29-4B52-A576-B1A8CA408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0030" y="1864194"/>
            <a:ext cx="9605635" cy="415560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3">
            <a:extLst>
              <a:ext uri="{FF2B5EF4-FFF2-40B4-BE49-F238E27FC236}">
                <a16:creationId xmlns:a16="http://schemas.microsoft.com/office/drawing/2014/main" xmlns="" id="{3AB63D30-1CF3-F05D-8EDE-45067180BB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920" y="2012429"/>
            <a:ext cx="9662160" cy="32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5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1052EB-2D7E-07F9-9409-86B500887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/>
                <a:cs typeface="Verdana"/>
              </a:rPr>
              <a:t>    Range</a:t>
            </a:r>
            <a:r>
              <a:rPr lang="en-US" spc="-180" dirty="0">
                <a:latin typeface="Verdana"/>
                <a:cs typeface="Verdana"/>
              </a:rPr>
              <a:t> </a:t>
            </a:r>
            <a:r>
              <a:rPr lang="en-US" dirty="0">
                <a:latin typeface="Verdana"/>
                <a:cs typeface="Verdana"/>
              </a:rPr>
              <a:t>of</a:t>
            </a:r>
            <a:r>
              <a:rPr lang="en-US" spc="-185" dirty="0">
                <a:latin typeface="Verdana"/>
                <a:cs typeface="Verdana"/>
              </a:rPr>
              <a:t> </a:t>
            </a:r>
            <a:r>
              <a:rPr lang="en-US" spc="-70" dirty="0">
                <a:latin typeface="Verdana"/>
                <a:cs typeface="Verdana"/>
              </a:rPr>
              <a:t>Water</a:t>
            </a:r>
            <a:r>
              <a:rPr lang="en-US" spc="-170" dirty="0">
                <a:latin typeface="Verdana"/>
                <a:cs typeface="Verdana"/>
              </a:rPr>
              <a:t> </a:t>
            </a:r>
            <a:r>
              <a:rPr lang="en-US" spc="-100" dirty="0">
                <a:latin typeface="Verdana"/>
                <a:cs typeface="Verdana"/>
              </a:rPr>
              <a:t>quality</a:t>
            </a:r>
            <a:r>
              <a:rPr lang="en-US" spc="-185" dirty="0">
                <a:latin typeface="Verdana"/>
                <a:cs typeface="Verdana"/>
              </a:rPr>
              <a:t> </a:t>
            </a:r>
            <a:r>
              <a:rPr lang="en-US" spc="-50" dirty="0">
                <a:latin typeface="Verdana"/>
                <a:cs typeface="Verdana"/>
              </a:rPr>
              <a:t>Parameters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4F28E106-96EB-36CE-D76A-D7836C280F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52148" y="1949571"/>
            <a:ext cx="10372472" cy="4183810"/>
          </a:xfrm>
        </p:spPr>
      </p:pic>
    </p:spTree>
    <p:extLst>
      <p:ext uri="{BB962C8B-B14F-4D97-AF65-F5344CB8AC3E}">
        <p14:creationId xmlns:p14="http://schemas.microsoft.com/office/powerpoint/2010/main" val="420989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3972F1-B548-7E96-64E7-74643F4F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     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329D75B-0488-EE8A-C2C5-FA9850445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9292" y="1864194"/>
            <a:ext cx="10636368" cy="3984514"/>
          </a:xfrm>
        </p:spPr>
        <p:txBody>
          <a:bodyPr>
            <a:normAutofit fontScale="25000" lnSpcReduction="20000"/>
          </a:bodyPr>
          <a:lstStyle/>
          <a:p>
            <a:pPr marL="355600" marR="9525" indent="-342900" algn="just">
              <a:lnSpc>
                <a:spcPts val="3020"/>
              </a:lnSpc>
              <a:spcBef>
                <a:spcPts val="480"/>
              </a:spcBef>
            </a:pP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The</a:t>
            </a:r>
            <a:r>
              <a:rPr lang="en-US" sz="9600" spc="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Random</a:t>
            </a:r>
            <a:r>
              <a:rPr lang="en-US" sz="9600" spc="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Forest</a:t>
            </a:r>
            <a:r>
              <a:rPr lang="en-US" sz="9600" spc="2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Classifier</a:t>
            </a:r>
            <a:r>
              <a:rPr lang="en-US" sz="9600" spc="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demonstrated</a:t>
            </a:r>
            <a:r>
              <a:rPr lang="en-US" sz="9600" spc="2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the</a:t>
            </a:r>
            <a:r>
              <a:rPr lang="en-US" sz="9600" spc="-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highest</a:t>
            </a:r>
            <a:r>
              <a:rPr lang="en-US" sz="9600" spc="1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accuracy</a:t>
            </a:r>
            <a:r>
              <a:rPr lang="en-US" sz="9600" spc="1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spc="-10" dirty="0">
                <a:latin typeface="Times" panose="02020603050405020304" pitchFamily="18" charset="0"/>
                <a:cs typeface="Times" panose="02020603050405020304" pitchFamily="18" charset="0"/>
              </a:rPr>
              <a:t>among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the</a:t>
            </a:r>
            <a:r>
              <a:rPr lang="en-US" sz="9600" spc="-1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other</a:t>
            </a:r>
            <a:r>
              <a:rPr lang="en-US" sz="9600" spc="-2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algorithms</a:t>
            </a:r>
            <a:r>
              <a:rPr lang="en-US" sz="9600" spc="-1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utilized</a:t>
            </a:r>
            <a:r>
              <a:rPr lang="en-US" sz="9600" spc="-2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in</a:t>
            </a:r>
            <a:r>
              <a:rPr lang="en-US" sz="9600" spc="-2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the</a:t>
            </a:r>
            <a:r>
              <a:rPr lang="en-US" sz="9600" spc="-1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spc="-10" dirty="0">
                <a:latin typeface="Times" panose="02020603050405020304" pitchFamily="18" charset="0"/>
                <a:cs typeface="Times" panose="02020603050405020304" pitchFamily="18" charset="0"/>
              </a:rPr>
              <a:t>analysis.</a:t>
            </a:r>
            <a:endParaRPr lang="en-US" sz="9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55600" marR="8255" indent="-342900" algn="just">
              <a:lnSpc>
                <a:spcPts val="3020"/>
              </a:lnSpc>
              <a:spcBef>
                <a:spcPts val="1015"/>
              </a:spcBef>
            </a:pPr>
            <a:r>
              <a:rPr lang="en-US" sz="9600" spc="-10" dirty="0">
                <a:solidFill>
                  <a:srgbClr val="B31166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Additionally,</a:t>
            </a:r>
            <a:r>
              <a:rPr lang="en-US" sz="9600" spc="220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it</a:t>
            </a:r>
            <a:r>
              <a:rPr lang="en-US" sz="9600" spc="215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identified</a:t>
            </a:r>
            <a:r>
              <a:rPr lang="en-US" sz="9600" spc="220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"ph"</a:t>
            </a:r>
            <a:r>
              <a:rPr lang="en-US" sz="9600" spc="215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as</a:t>
            </a:r>
            <a:r>
              <a:rPr lang="en-US" sz="9600" spc="220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the</a:t>
            </a:r>
            <a:r>
              <a:rPr lang="en-US" sz="9600" spc="210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most</a:t>
            </a:r>
            <a:r>
              <a:rPr lang="en-US" sz="9600" spc="220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influential</a:t>
            </a:r>
            <a:r>
              <a:rPr lang="en-US" sz="9600" spc="225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feature</a:t>
            </a:r>
            <a:r>
              <a:rPr lang="en-US" sz="9600" spc="220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spc="-25" dirty="0">
                <a:latin typeface="Times" panose="02020603050405020304" pitchFamily="18" charset="0"/>
                <a:cs typeface="Times" panose="02020603050405020304" pitchFamily="18" charset="0"/>
              </a:rPr>
              <a:t>in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predicting</a:t>
            </a:r>
            <a:r>
              <a:rPr lang="en-US" sz="9600" spc="-3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disease</a:t>
            </a:r>
            <a:r>
              <a:rPr lang="en-US" sz="9600" spc="-4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presence</a:t>
            </a:r>
            <a:r>
              <a:rPr lang="en-US" sz="9600" spc="-3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based</a:t>
            </a:r>
            <a:r>
              <a:rPr lang="en-US" sz="9600" spc="-2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on</a:t>
            </a:r>
            <a:r>
              <a:rPr lang="en-US" sz="9600" spc="-3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water</a:t>
            </a:r>
            <a:r>
              <a:rPr lang="en-US" sz="9600" spc="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quality</a:t>
            </a:r>
            <a:r>
              <a:rPr lang="en-US" sz="9600" spc="-3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spc="-10" dirty="0">
                <a:latin typeface="Times" panose="02020603050405020304" pitchFamily="18" charset="0"/>
                <a:cs typeface="Times" panose="02020603050405020304" pitchFamily="18" charset="0"/>
              </a:rPr>
              <a:t>metrics.</a:t>
            </a:r>
            <a:endParaRPr lang="en-US" sz="9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55600" marR="5080" indent="-342900" algn="just">
              <a:lnSpc>
                <a:spcPts val="3030"/>
              </a:lnSpc>
              <a:spcBef>
                <a:spcPts val="994"/>
              </a:spcBef>
            </a:pP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This</a:t>
            </a:r>
            <a:r>
              <a:rPr lang="en-US" sz="9600" spc="27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underscores</a:t>
            </a:r>
            <a:r>
              <a:rPr lang="en-US" sz="9600" spc="27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the</a:t>
            </a:r>
            <a:r>
              <a:rPr lang="en-US" sz="9600" spc="26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significant</a:t>
            </a:r>
            <a:r>
              <a:rPr lang="en-US" sz="9600" spc="28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role</a:t>
            </a:r>
            <a:r>
              <a:rPr lang="en-US" sz="9600" spc="26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pH</a:t>
            </a:r>
            <a:r>
              <a:rPr lang="en-US" sz="9600" spc="26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levels</a:t>
            </a:r>
            <a:r>
              <a:rPr lang="en-US" sz="9600" spc="254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play</a:t>
            </a:r>
            <a:r>
              <a:rPr lang="en-US" sz="9600" spc="27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in</a:t>
            </a:r>
            <a:r>
              <a:rPr lang="en-US" sz="9600" spc="26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determining</a:t>
            </a:r>
            <a:r>
              <a:rPr lang="en-US" sz="9600" spc="28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spc="-25" dirty="0">
                <a:latin typeface="Times" panose="02020603050405020304" pitchFamily="18" charset="0"/>
                <a:cs typeface="Times" panose="02020603050405020304" pitchFamily="18" charset="0"/>
              </a:rPr>
              <a:t>the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likelihood</a:t>
            </a:r>
            <a:r>
              <a:rPr lang="en-US" sz="9600" spc="-4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of</a:t>
            </a:r>
            <a:r>
              <a:rPr lang="en-US" sz="9600" spc="-1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disease</a:t>
            </a:r>
            <a:r>
              <a:rPr lang="en-US" sz="9600" spc="-3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occurrence</a:t>
            </a:r>
            <a:r>
              <a:rPr lang="en-US" sz="9600" spc="-2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in</a:t>
            </a:r>
            <a:r>
              <a:rPr lang="en-US" sz="9600" spc="-2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aquatic</a:t>
            </a:r>
            <a:r>
              <a:rPr lang="en-US" sz="9600" spc="-3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spc="-10" dirty="0">
                <a:latin typeface="Times" panose="02020603050405020304" pitchFamily="18" charset="0"/>
                <a:cs typeface="Times" panose="02020603050405020304" pitchFamily="18" charset="0"/>
              </a:rPr>
              <a:t>environments.</a:t>
            </a:r>
            <a:endParaRPr lang="en-US" sz="9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55600" marR="6985" indent="-342900" algn="just">
              <a:lnSpc>
                <a:spcPts val="3020"/>
              </a:lnSpc>
              <a:spcBef>
                <a:spcPts val="994"/>
              </a:spcBef>
            </a:pP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Maintaining</a:t>
            </a:r>
            <a:r>
              <a:rPr lang="en-US" sz="9600" spc="3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optimal</a:t>
            </a:r>
            <a:r>
              <a:rPr lang="en-US" sz="9600" spc="2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pH</a:t>
            </a:r>
            <a:r>
              <a:rPr lang="en-US" sz="9600" spc="1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levels</a:t>
            </a:r>
            <a:r>
              <a:rPr lang="en-US" sz="9600" spc="2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is</a:t>
            </a:r>
            <a:r>
              <a:rPr lang="en-US" sz="9600" spc="2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crucial</a:t>
            </a:r>
            <a:r>
              <a:rPr lang="en-US" sz="9600" spc="2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for</a:t>
            </a:r>
            <a:r>
              <a:rPr lang="en-US" sz="9600" spc="20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preventing</a:t>
            </a:r>
            <a:r>
              <a:rPr lang="en-US" sz="9600" spc="2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the</a:t>
            </a:r>
            <a:r>
              <a:rPr lang="en-US" sz="9600" spc="15" dirty="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sz="9600" spc="-10" dirty="0">
                <a:latin typeface="Times" panose="02020603050405020304" pitchFamily="18" charset="0"/>
                <a:cs typeface="Times" panose="02020603050405020304" pitchFamily="18" charset="0"/>
              </a:rPr>
              <a:t>proliferation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of</a:t>
            </a:r>
            <a:r>
              <a:rPr lang="en-US" sz="9600" spc="225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harmful</a:t>
            </a:r>
            <a:r>
              <a:rPr lang="en-US" sz="9600" spc="215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pathogens</a:t>
            </a:r>
            <a:r>
              <a:rPr lang="en-US" sz="9600" spc="229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and</a:t>
            </a:r>
            <a:r>
              <a:rPr lang="en-US" sz="9600" spc="220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ensuring</a:t>
            </a:r>
            <a:r>
              <a:rPr lang="en-US" sz="9600" spc="220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the</a:t>
            </a:r>
            <a:r>
              <a:rPr lang="en-US" sz="9600" spc="220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overall</a:t>
            </a:r>
            <a:r>
              <a:rPr lang="en-US" sz="9600" spc="225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health</a:t>
            </a:r>
            <a:r>
              <a:rPr lang="en-US" sz="9600" spc="210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</a:rPr>
              <a:t>of</a:t>
            </a:r>
            <a:r>
              <a:rPr lang="en-US" sz="9600" spc="225" dirty="0">
                <a:latin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sz="9600" spc="-10" dirty="0">
                <a:latin typeface="Times" panose="02020603050405020304" pitchFamily="18" charset="0"/>
                <a:cs typeface="Times" panose="02020603050405020304" pitchFamily="18" charset="0"/>
              </a:rPr>
              <a:t>aquatic ecosystems.</a:t>
            </a:r>
            <a:endParaRPr lang="en-US" sz="9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0879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EA3DEC-4043-9631-F39B-7F14D3B58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75" dirty="0">
                <a:latin typeface="Verdana"/>
                <a:cs typeface="Verdana"/>
              </a:rPr>
              <a:t>       Distribution</a:t>
            </a:r>
            <a:r>
              <a:rPr lang="en-IN" spc="-229" dirty="0">
                <a:latin typeface="Verdana"/>
                <a:cs typeface="Verdana"/>
              </a:rPr>
              <a:t> </a:t>
            </a:r>
            <a:r>
              <a:rPr lang="en-IN" spc="130" dirty="0">
                <a:latin typeface="Verdana"/>
                <a:cs typeface="Verdana"/>
              </a:rPr>
              <a:t>and</a:t>
            </a:r>
            <a:r>
              <a:rPr lang="en-IN" spc="-254" dirty="0">
                <a:latin typeface="Verdana"/>
                <a:cs typeface="Verdana"/>
              </a:rPr>
              <a:t> </a:t>
            </a:r>
            <a:r>
              <a:rPr lang="en-IN" spc="-80" dirty="0">
                <a:latin typeface="Verdana"/>
                <a:cs typeface="Verdana"/>
              </a:rPr>
              <a:t>Learning</a:t>
            </a:r>
            <a:r>
              <a:rPr lang="en-IN" spc="-260" dirty="0">
                <a:latin typeface="Verdana"/>
                <a:cs typeface="Verdana"/>
              </a:rPr>
              <a:t> </a:t>
            </a:r>
            <a:r>
              <a:rPr lang="en-IN" spc="-10" dirty="0">
                <a:latin typeface="Verdana"/>
                <a:cs typeface="Verdana"/>
              </a:rPr>
              <a:t>Curve</a:t>
            </a:r>
            <a:endParaRPr lang="en-IN" dirty="0"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xmlns="" id="{66EBF539-F64D-3837-2AD2-8A6986CF41E7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793630" y="2087592"/>
            <a:ext cx="5203681" cy="3735237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xmlns="" id="{E2AA1AE3-D5F8-271A-091F-D541A0AE76EB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6499323" y="2011362"/>
            <a:ext cx="5413757" cy="381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72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6C31E5-3A98-4721-3F77-53E2C04B1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spc="-195" dirty="0">
                <a:latin typeface="Verdana"/>
                <a:cs typeface="Verdana"/>
              </a:rPr>
              <a:t>     Cross</a:t>
            </a:r>
            <a:r>
              <a:rPr lang="en-US" sz="2800" spc="-235" dirty="0">
                <a:latin typeface="Verdana"/>
                <a:cs typeface="Verdana"/>
              </a:rPr>
              <a:t> </a:t>
            </a:r>
            <a:r>
              <a:rPr lang="en-US" sz="2800" spc="-35" dirty="0">
                <a:latin typeface="Verdana"/>
                <a:cs typeface="Verdana"/>
              </a:rPr>
              <a:t>validation</a:t>
            </a:r>
            <a:r>
              <a:rPr lang="en-US" sz="2800" spc="-220" dirty="0">
                <a:latin typeface="Verdana"/>
                <a:cs typeface="Verdana"/>
              </a:rPr>
              <a:t> </a:t>
            </a:r>
            <a:r>
              <a:rPr lang="en-US" sz="2800" spc="130" dirty="0">
                <a:latin typeface="Verdana"/>
                <a:cs typeface="Verdana"/>
              </a:rPr>
              <a:t>and</a:t>
            </a:r>
            <a:r>
              <a:rPr lang="en-US" sz="2800" spc="-254" dirty="0">
                <a:latin typeface="Verdana"/>
                <a:cs typeface="Verdana"/>
              </a:rPr>
              <a:t> </a:t>
            </a:r>
            <a:r>
              <a:rPr lang="en-US" sz="2800" spc="-60" dirty="0">
                <a:latin typeface="Verdana"/>
                <a:cs typeface="Verdana"/>
              </a:rPr>
              <a:t>Feature</a:t>
            </a:r>
            <a:r>
              <a:rPr lang="en-US" sz="2800" spc="-245" dirty="0">
                <a:latin typeface="Verdana"/>
                <a:cs typeface="Verdana"/>
              </a:rPr>
              <a:t> </a:t>
            </a:r>
            <a:r>
              <a:rPr lang="en-US" sz="2800" spc="-10" dirty="0">
                <a:latin typeface="Verdana"/>
                <a:cs typeface="Verdana"/>
              </a:rPr>
              <a:t>Importance</a:t>
            </a:r>
            <a:endParaRPr lang="en-IN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BD2129F7-2680-08C0-9473-D96F42141A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5324" y="2017714"/>
            <a:ext cx="5463221" cy="3441700"/>
          </a:xfrm>
        </p:spPr>
      </p:pic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413770" y="2017342"/>
            <a:ext cx="5538743" cy="371725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1" y="2017343"/>
            <a:ext cx="5318899" cy="344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71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331" y="347689"/>
            <a:ext cx="9605635" cy="105930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                            Random </a:t>
            </a:r>
            <a:r>
              <a:rPr lang="en-US" sz="2800" dirty="0"/>
              <a:t>Forest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819" y="1925901"/>
            <a:ext cx="6505301" cy="4017699"/>
          </a:xfrm>
        </p:spPr>
        <p:txBody>
          <a:bodyPr>
            <a:normAutofit lnSpcReduction="10000"/>
          </a:bodyPr>
          <a:lstStyle/>
          <a:p>
            <a:r>
              <a:rPr lang="en-GB" sz="2400" dirty="0">
                <a:latin typeface="Times" panose="02020603050405020304" pitchFamily="18" charset="0"/>
                <a:cs typeface="Times" panose="02020603050405020304" pitchFamily="18" charset="0"/>
              </a:rPr>
              <a:t>A Random Forest is an ensemble learning method that builds multiple decision trees using bootstrapped data samples and random feature selection. </a:t>
            </a:r>
            <a:endParaRPr lang="en-GB" sz="2400" dirty="0" smtClean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GB" sz="2400" dirty="0" smtClean="0">
                <a:latin typeface="Times" panose="02020603050405020304" pitchFamily="18" charset="0"/>
                <a:cs typeface="Times" panose="02020603050405020304" pitchFamily="18" charset="0"/>
              </a:rPr>
              <a:t>Each </a:t>
            </a:r>
            <a:r>
              <a:rPr lang="en-GB" sz="2400" dirty="0">
                <a:latin typeface="Times" panose="02020603050405020304" pitchFamily="18" charset="0"/>
                <a:cs typeface="Times" panose="02020603050405020304" pitchFamily="18" charset="0"/>
              </a:rPr>
              <a:t>tree's prediction is combined through voting (classification) or averaging (regression), resulting in improved accuracy, robustness, and generalization while reducing overfitting compared to single decision trees</a:t>
            </a:r>
            <a:r>
              <a:rPr lang="en-GB" sz="2400" dirty="0"/>
              <a:t>.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379" y="1775861"/>
            <a:ext cx="4741815" cy="428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96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0446" y="143693"/>
            <a:ext cx="11730446" cy="5982788"/>
          </a:xfrm>
        </p:spPr>
        <p:txBody>
          <a:bodyPr>
            <a:noAutofit/>
          </a:bodyPr>
          <a:lstStyle/>
          <a:p>
            <a:pPr marL="342900" indent="-34290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provided accurate meal recommendations with: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Breakfast Accuracy: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Lunch Accuracy: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Dinner Accuracy: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Snack Accuracy: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</a:t>
            </a:r>
          </a:p>
          <a:p>
            <a:pPr marL="342900" indent="-342900"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Analysis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 and activity level significantly impact dietary needs.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vs. Predicted Plot: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strong alignment, confirming reliable predictions.</a:t>
            </a:r>
          </a:p>
          <a:p>
            <a:pPr marL="342900" indent="-342900"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personalizes diet plans based on user inputs.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classification model effectively identifies suitable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meals.</a:t>
            </a:r>
          </a:p>
          <a:p>
            <a:pPr marL="457200" lvl="1" indent="0" algn="just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7566" y="326571"/>
            <a:ext cx="10580914" cy="2403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315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TO BE CARRIED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0" y="2010878"/>
            <a:ext cx="10413743" cy="4063351"/>
          </a:xfrm>
        </p:spPr>
        <p:txBody>
          <a:bodyPr/>
          <a:lstStyle/>
          <a:p>
            <a:pPr marL="342900" indent="-34290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all machine learning algorithms </a:t>
            </a:r>
          </a:p>
          <a:p>
            <a:pPr marL="342900" indent="-34290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among all ML algorithms.</a:t>
            </a:r>
          </a:p>
          <a:p>
            <a:pPr marL="342900" indent="-34290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higher accuracy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9890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81A203-49CA-F535-4921-17AC7B76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75" dirty="0">
                <a:latin typeface="Verdana"/>
                <a:cs typeface="Verdana"/>
              </a:rPr>
              <a:t>                  Web</a:t>
            </a:r>
            <a:r>
              <a:rPr lang="en-IN" spc="-270" dirty="0">
                <a:latin typeface="Verdana"/>
                <a:cs typeface="Verdana"/>
              </a:rPr>
              <a:t> </a:t>
            </a:r>
            <a:r>
              <a:rPr lang="en-IN" spc="-10" dirty="0">
                <a:latin typeface="Verdana"/>
                <a:cs typeface="Verdana"/>
              </a:rPr>
              <a:t>Application</a:t>
            </a:r>
            <a:endParaRPr lang="en-IN" dirty="0"/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xmlns="" id="{419A069B-71EC-AE88-7FD2-C8A4DBB4EE1A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>
          <a:xfrm>
            <a:off x="1449217" y="1863724"/>
            <a:ext cx="9605635" cy="427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29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20792D-ABD6-4F44-A813-454A3AC4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Software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7BAFF3-BD29-4B52-A576-B1A8CA408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7205" y="1864194"/>
            <a:ext cx="9570712" cy="3416301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549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495E4D-50A9-6B4F-8AEB-E75A2344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BA6AD9-F9B7-5A4A-974C-C91C65699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12 weeks </a:t>
            </a:r>
          </a:p>
          <a:p>
            <a:r>
              <a:rPr lang="en-US" dirty="0"/>
              <a:t>Week wise should be planned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427D4E92-AE01-B086-D79A-6118260C1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959920"/>
              </p:ext>
            </p:extLst>
          </p:nvPr>
        </p:nvGraphicFramePr>
        <p:xfrm>
          <a:off x="1515292" y="1514120"/>
          <a:ext cx="8686800" cy="4389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98065">
                  <a:extLst>
                    <a:ext uri="{9D8B030D-6E8A-4147-A177-3AD203B41FA5}">
                      <a16:colId xmlns:a16="http://schemas.microsoft.com/office/drawing/2014/main" xmlns="" val="1816354404"/>
                    </a:ext>
                  </a:extLst>
                </a:gridCol>
                <a:gridCol w="1426899">
                  <a:extLst>
                    <a:ext uri="{9D8B030D-6E8A-4147-A177-3AD203B41FA5}">
                      <a16:colId xmlns:a16="http://schemas.microsoft.com/office/drawing/2014/main" xmlns="" val="3353596113"/>
                    </a:ext>
                  </a:extLst>
                </a:gridCol>
                <a:gridCol w="5461836">
                  <a:extLst>
                    <a:ext uri="{9D8B030D-6E8A-4147-A177-3AD203B41FA5}">
                      <a16:colId xmlns:a16="http://schemas.microsoft.com/office/drawing/2014/main" xmlns="" val="4112806050"/>
                    </a:ext>
                  </a:extLst>
                </a:gridCol>
              </a:tblGrid>
              <a:tr h="352262">
                <a:tc>
                  <a:txBody>
                    <a:bodyPr/>
                    <a:lstStyle/>
                    <a:p>
                      <a:r>
                        <a:rPr lang="en-US" dirty="0"/>
                        <a:t>Month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51072841"/>
                  </a:ext>
                </a:extLst>
              </a:tr>
              <a:tr h="352262">
                <a:tc>
                  <a:txBody>
                    <a:bodyPr/>
                    <a:lstStyle/>
                    <a:p>
                      <a:r>
                        <a:rPr lang="en-IN" dirty="0"/>
                        <a:t>Fed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Literature</a:t>
                      </a:r>
                      <a:r>
                        <a:rPr lang="en-IN" baseline="0" dirty="0"/>
                        <a:t> Survey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15453373"/>
                  </a:ext>
                </a:extLst>
              </a:tr>
              <a:tr h="352262">
                <a:tc>
                  <a:txBody>
                    <a:bodyPr/>
                    <a:lstStyle/>
                    <a:p>
                      <a:r>
                        <a:rPr lang="en-IN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Framing</a:t>
                      </a:r>
                      <a:r>
                        <a:rPr lang="en-IN" baseline="0" dirty="0"/>
                        <a:t> the objective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59151745"/>
                  </a:ext>
                </a:extLst>
              </a:tr>
              <a:tr h="352262">
                <a:tc>
                  <a:txBody>
                    <a:bodyPr/>
                    <a:lstStyle/>
                    <a:p>
                      <a:r>
                        <a:rPr lang="en-IN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Implementaion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44291262"/>
                  </a:ext>
                </a:extLst>
              </a:tr>
              <a:tr h="352262">
                <a:tc>
                  <a:txBody>
                    <a:bodyPr/>
                    <a:lstStyle/>
                    <a:p>
                      <a:r>
                        <a:rPr lang="en-IN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Implementaion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1300677"/>
                  </a:ext>
                </a:extLst>
              </a:tr>
              <a:tr h="352262">
                <a:tc>
                  <a:txBody>
                    <a:bodyPr/>
                    <a:lstStyle/>
                    <a:p>
                      <a:r>
                        <a:rPr lang="en-IN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Performance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10023283"/>
                  </a:ext>
                </a:extLst>
              </a:tr>
              <a:tr h="352262">
                <a:tc>
                  <a:txBody>
                    <a:bodyPr/>
                    <a:lstStyle/>
                    <a:p>
                      <a:r>
                        <a:rPr lang="en-IN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Comparison of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53854613"/>
                  </a:ext>
                </a:extLst>
              </a:tr>
              <a:tr h="352262">
                <a:tc>
                  <a:txBody>
                    <a:bodyPr/>
                    <a:lstStyle/>
                    <a:p>
                      <a:r>
                        <a:rPr lang="en-IN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Documentation</a:t>
                      </a:r>
                      <a:r>
                        <a:rPr lang="en-IN" baseline="0" dirty="0"/>
                        <a:t> for Confence and repart Draft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74076472"/>
                  </a:ext>
                </a:extLst>
              </a:tr>
              <a:tr h="352262">
                <a:tc>
                  <a:txBody>
                    <a:bodyPr/>
                    <a:lstStyle/>
                    <a:p>
                      <a:r>
                        <a:rPr lang="en-IN" dirty="0"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Documentation</a:t>
                      </a:r>
                      <a:r>
                        <a:rPr lang="en-IN" baseline="0" dirty="0"/>
                        <a:t> for Confence and repart Draft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43003734"/>
                  </a:ext>
                </a:extLst>
              </a:tr>
              <a:tr h="352262">
                <a:tc>
                  <a:txBody>
                    <a:bodyPr/>
                    <a:lstStyle/>
                    <a:p>
                      <a:r>
                        <a:rPr lang="en-IN" dirty="0"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Final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92146893"/>
                  </a:ext>
                </a:extLst>
              </a:tr>
              <a:tr h="352262">
                <a:tc>
                  <a:txBody>
                    <a:bodyPr/>
                    <a:lstStyle/>
                    <a:p>
                      <a:r>
                        <a:rPr lang="en-IN" dirty="0"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Final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36150262"/>
                  </a:ext>
                </a:extLst>
              </a:tr>
              <a:tr h="352262">
                <a:tc>
                  <a:txBody>
                    <a:bodyPr/>
                    <a:lstStyle/>
                    <a:p>
                      <a:r>
                        <a:rPr lang="en-IN" dirty="0"/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Final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84717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458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0411FF-1227-F440-8EAE-4B9513659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93" y="412634"/>
            <a:ext cx="9603275" cy="1049235"/>
          </a:xfrm>
        </p:spPr>
        <p:txBody>
          <a:bodyPr/>
          <a:lstStyle/>
          <a:p>
            <a:pPr algn="ctr"/>
            <a:r>
              <a:rPr lang="en-US" b="1" dirty="0">
                <a:latin typeface="Times" pitchFamily="2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B1D2A8-0583-AF48-9841-8ABA0B51A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131" y="1341027"/>
            <a:ext cx="11956869" cy="499445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1.Q Huang, H Wang, S Hao, C Zhong, L Wang “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and Fabrication of a High-Frequency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Single-Directional Planar Underwater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Ultrasound 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ransducer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,”. Mdpi Sensors, 2019.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A. Ashraf and A. Atia, "Comparative Study Between Transfer Learning Models to Detect Shrimp Diseases," 2021 16th International Conference on Computer Engineering and Systems (ICCES), Cairo, Egypt, Egypt, 2021, pp. 1-6, doi: 10.1109/ICCES54031.2021.9686116.</a:t>
            </a:r>
          </a:p>
          <a:p>
            <a:pPr marL="0" indent="0"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Fu-Sung Lin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“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Machine-Learning-Based Ultrasonic System for Monitoring White Shrimps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” IEEE sensors journal, Oct.1, 2023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Gadhiraju Tej Varma; Adusumilli Sri Krishna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et al.,”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SDNet: Integrated Unsupervised Learning with DLCNN for Shrimp Disease Detection and Classification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”,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IEEE, International Conference, </a:t>
            </a:r>
            <a:r>
              <a:rPr lang="en-I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2023.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15785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13509" y="352925"/>
            <a:ext cx="11207931" cy="619156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altLang="en-US" sz="9600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6. P. Kirankumar; G. Keertana; S U Abhinash Sivarao; B. Vijaykumar; Sh. Chetan Shah, “ </a:t>
            </a:r>
            <a:r>
              <a:rPr lang="en-US" sz="9600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Smart Monitoring and Water Quality Management in Aquaculture using IOT and ML</a:t>
            </a:r>
            <a:r>
              <a:rPr lang="en-IN" altLang="en-US" sz="9600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”, IEEE International Conference, 2024.</a:t>
            </a:r>
            <a:endParaRPr lang="en-IN" altLang="en-US" sz="9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buNone/>
            </a:pPr>
            <a:r>
              <a:rPr lang="en-IN" altLang="en-US" sz="9600" dirty="0">
                <a:latin typeface="Times" panose="02020603050405020304" pitchFamily="18" charset="0"/>
                <a:cs typeface="Times" panose="02020603050405020304" pitchFamily="18" charset="0"/>
              </a:rPr>
              <a:t>7. </a:t>
            </a:r>
            <a:r>
              <a:rPr lang="en-IN" altLang="en-US" sz="9600" dirty="0">
                <a:latin typeface="Times" panose="02020603050405020304" pitchFamily="18" charset="0"/>
                <a:cs typeface="Times" panose="02020603050405020304" pitchFamily="18" charset="0"/>
                <a:sym typeface="+mn-ea"/>
              </a:rPr>
              <a:t>Taji Khaoula*, Rachida Ait Abdelouahid, Ibtissame Ezzahoui,Abdelaziz Marzak, “Taji Khaoula*, Rachida Ait Abdelouahid, Ibtissame Ezzahoui,Abdelaziz Marzak”, Elsvier, 2025.</a:t>
            </a:r>
            <a:endParaRPr lang="en-IN" altLang="en-US" sz="96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indent="0">
              <a:buNone/>
            </a:pPr>
            <a:r>
              <a:rPr lang="en-GB" sz="9600" dirty="0">
                <a:latin typeface="Times" panose="02020603050405020304" pitchFamily="18" charset="0"/>
                <a:cs typeface="Times" panose="02020603050405020304" pitchFamily="18" charset="0"/>
              </a:rPr>
              <a:t>8.CrouseC. et al*,The effects of two water temperature regimes on Atlantic salmon (Salmo salar) growth performance and maturation in freshwater recirculating aquaculture systemsAquaculture(2025)</a:t>
            </a:r>
          </a:p>
          <a:p>
            <a:pPr marL="0" indent="0">
              <a:buNone/>
            </a:pPr>
            <a:r>
              <a:rPr lang="en-GB" sz="9600" dirty="0">
                <a:latin typeface="Times" panose="02020603050405020304" pitchFamily="18" charset="0"/>
                <a:cs typeface="Times" panose="02020603050405020304" pitchFamily="18" charset="0"/>
              </a:rPr>
              <a:t>9.FarajiM. et al.An integrated 3D CNN-GRU deep learning method for short-term prediction of PM2. 5 concentration in urban environmentSci. Total Environ.(2024)</a:t>
            </a:r>
          </a:p>
          <a:p>
            <a:pPr marL="0" indent="0">
              <a:buNone/>
            </a:pPr>
            <a:r>
              <a:rPr lang="en-GB" sz="9600" dirty="0">
                <a:latin typeface="Times" panose="02020603050405020304" pitchFamily="18" charset="0"/>
                <a:cs typeface="Times" panose="02020603050405020304" pitchFamily="18" charset="0"/>
              </a:rPr>
              <a:t>10. WangS. et al.Prediction of estuarine water quality using interpretable machine learning approachJ. Hydrol.(2024)</a:t>
            </a:r>
          </a:p>
          <a:p>
            <a:pPr marL="0" indent="0">
              <a:buNone/>
            </a:pPr>
            <a:r>
              <a:rPr lang="en-GB" sz="9600" dirty="0">
                <a:latin typeface="Times" panose="02020603050405020304" pitchFamily="18" charset="0"/>
                <a:cs typeface="Times" panose="02020603050405020304" pitchFamily="18" charset="0"/>
              </a:rPr>
              <a:t>11. TianC. et al.Developing a wind power forecasting system based on deep learning with attention mechanismEnergy(2024)</a:t>
            </a:r>
          </a:p>
          <a:p>
            <a:pPr marL="0" indent="0">
              <a:buNone/>
            </a:pPr>
            <a:endParaRPr lang="en-GB" sz="9600" dirty="0"/>
          </a:p>
          <a:p>
            <a:pPr marL="0" indent="0">
              <a:buNone/>
            </a:pPr>
            <a:endParaRPr lang="en-GB" sz="9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20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5988B32A-26F6-4102-BA15-F60553E61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9053" y="2305455"/>
            <a:ext cx="4256947" cy="769799"/>
          </a:xfrm>
        </p:spPr>
        <p:txBody>
          <a:bodyPr>
            <a:no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   	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380141098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3518</TotalTime>
  <Words>1431</Words>
  <Application>Microsoft Office PowerPoint</Application>
  <PresentationFormat>Widescreen</PresentationFormat>
  <Paragraphs>158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Gill Sans MT</vt:lpstr>
      <vt:lpstr>Times</vt:lpstr>
      <vt:lpstr>Times New Roman</vt:lpstr>
      <vt:lpstr>Verdana</vt:lpstr>
      <vt:lpstr>Wingdings</vt:lpstr>
      <vt:lpstr>Gallery</vt:lpstr>
      <vt:lpstr>                                                                                                                                                                                                                                                                   MINOR PROJECT REVIEW -1  ML BASED WATER QUALITY PREDICTION FOR Aquaculture                       Guided by                              Presented by Dr. rajkumar.r                                           G.srinivasulu(27016)                                                                                              M.praveenreddy(27150)                                                                            Y.ganesh(27151)                                      </vt:lpstr>
      <vt:lpstr>                           ABSTRACT</vt:lpstr>
      <vt:lpstr>                          OBJECTIVE</vt:lpstr>
      <vt:lpstr>Introduction</vt:lpstr>
      <vt:lpstr>                      LITERATURE SURVEY</vt:lpstr>
      <vt:lpstr>PowerPoint Presentation</vt:lpstr>
      <vt:lpstr>Water quality parameters</vt:lpstr>
      <vt:lpstr>                      BLOCK DIAGRAM</vt:lpstr>
      <vt:lpstr>    Range of Water quality Parameters</vt:lpstr>
      <vt:lpstr>                                   RESULTS</vt:lpstr>
      <vt:lpstr>       Distribution and Learning Curve</vt:lpstr>
      <vt:lpstr>     Cross validation and Feature Importance</vt:lpstr>
      <vt:lpstr>                            Random Forest </vt:lpstr>
      <vt:lpstr>PowerPoint Presentation</vt:lpstr>
      <vt:lpstr>WORK TO BE CARRIED OUT</vt:lpstr>
      <vt:lpstr>                  Web Application</vt:lpstr>
      <vt:lpstr>                      Software Used</vt:lpstr>
      <vt:lpstr>Timeline Plan</vt:lpstr>
      <vt:lpstr>References</vt:lpstr>
      <vt:lpstr>PowerPoint Presentation</vt:lpstr>
      <vt:lpstr>                                                        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OF TOR TRAFFIC USING MACHINE LEARNING  ALGORITHM                          M. SIVA CHAITHANYA PRASAD                                            N.L.M GAYATHRI</dc:title>
  <dc:creator>siva chaithanya prasad</dc:creator>
  <cp:lastModifiedBy>Microsoft account</cp:lastModifiedBy>
  <cp:revision>211</cp:revision>
  <dcterms:created xsi:type="dcterms:W3CDTF">2019-09-14T13:41:24Z</dcterms:created>
  <dcterms:modified xsi:type="dcterms:W3CDTF">2025-03-06T15:05:01Z</dcterms:modified>
</cp:coreProperties>
</file>